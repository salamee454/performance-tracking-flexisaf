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F8FAFC"/>
                </a:solidFill>
                <a:latin typeface="Aptos"/>
              </a:rPr>
              <a:t>GENERATIVE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01168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6B6D4"/>
                </a:solidFill>
                <a:latin typeface="Aptos"/>
              </a:rPr>
              <a:t>From Machine Learning to Models That Create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94A3B8"/>
                </a:solidFill>
                <a:latin typeface="Aptos"/>
              </a:rPr>
              <a:t>Concepts • GANs • VAEs • Autoregressive Models • Fine-Tuning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Aptos"/>
              </a:rPr>
              <a:t>Understanding what makes Generative AI different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1. What is Machine Learning?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30352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" y="1764792"/>
            <a:ext cx="490118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2563EB"/>
                </a:solidFill>
                <a:latin typeface="Aptos"/>
              </a:rPr>
              <a:t>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258568"/>
            <a:ext cx="5197641" cy="1708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dirty="0">
                <a:solidFill>
                  <a:srgbClr val="F8FAFC"/>
                </a:solidFill>
                <a:latin typeface="Aptos"/>
              </a:rPr>
              <a:t>A branch of AI where computers learn patterns from data and</a:t>
            </a:r>
            <a:br>
              <a:rPr lang="en-US" sz="1500" b="0" dirty="0">
                <a:solidFill>
                  <a:srgbClr val="F8FAFC"/>
                </a:solidFill>
                <a:latin typeface="Aptos"/>
              </a:rPr>
            </a:br>
            <a:r>
              <a:rPr sz="1500" b="0" dirty="0">
                <a:solidFill>
                  <a:srgbClr val="F8FAFC"/>
                </a:solidFill>
                <a:latin typeface="Aptos"/>
              </a:rPr>
              <a:t> use those patterns to make predictions, classifications,</a:t>
            </a:r>
            <a:br>
              <a:rPr lang="en-US" sz="1500" b="0" dirty="0">
                <a:solidFill>
                  <a:srgbClr val="F8FAFC"/>
                </a:solidFill>
                <a:latin typeface="Aptos"/>
              </a:rPr>
            </a:br>
            <a:r>
              <a:rPr sz="1500" b="0" dirty="0">
                <a:solidFill>
                  <a:srgbClr val="F8FAFC"/>
                </a:solidFill>
                <a:latin typeface="Aptos"/>
              </a:rPr>
              <a:t>or decisions.
Example: </a:t>
            </a:r>
            <a:br>
              <a:rPr lang="en-US" sz="1500" b="0" dirty="0">
                <a:solidFill>
                  <a:srgbClr val="F8FAFC"/>
                </a:solidFill>
                <a:latin typeface="Aptos"/>
              </a:rPr>
            </a:br>
            <a:r>
              <a:rPr sz="1500" b="0" dirty="0">
                <a:solidFill>
                  <a:srgbClr val="F8FAFC"/>
                </a:solidFill>
                <a:latin typeface="Aptos"/>
              </a:rPr>
              <a:t>learn from past house prices → predict the price of a new </a:t>
            </a:r>
            <a:br>
              <a:rPr lang="en-US" sz="1500" b="0" dirty="0">
                <a:solidFill>
                  <a:srgbClr val="F8FAFC"/>
                </a:solidFill>
                <a:latin typeface="Aptos"/>
              </a:rPr>
            </a:br>
            <a:r>
              <a:rPr sz="1500" b="0" dirty="0">
                <a:solidFill>
                  <a:srgbClr val="F8FAFC"/>
                </a:solidFill>
                <a:latin typeface="Aptos"/>
              </a:rPr>
              <a:t>house.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00200"/>
            <a:ext cx="512064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10528" y="1764792"/>
            <a:ext cx="471830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06B6D4"/>
                </a:solidFill>
                <a:latin typeface="Aptos"/>
              </a:rPr>
              <a:t>Core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0528" y="2258568"/>
            <a:ext cx="4718303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DATA → LEARNING → PREDICTION / DECISION
Traditional ML often focuses on answering:
“What is this?” or “What will happen?”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2. What is Generative AI?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30352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" y="1673351"/>
            <a:ext cx="490118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8B5CF6"/>
                </a:solidFill>
                <a:latin typeface="Aptos"/>
              </a:rPr>
              <a:t>Generative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167128"/>
            <a:ext cx="4992457" cy="12464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dirty="0">
                <a:solidFill>
                  <a:srgbClr val="F8FAFC"/>
                </a:solidFill>
                <a:latin typeface="Aptos"/>
              </a:rPr>
              <a:t>A class of AI systems that learn patterns from existing data</a:t>
            </a:r>
            <a:br>
              <a:rPr lang="en-US" sz="1500" b="0" dirty="0">
                <a:solidFill>
                  <a:srgbClr val="F8FAFC"/>
                </a:solidFill>
                <a:latin typeface="Aptos"/>
              </a:rPr>
            </a:br>
            <a:r>
              <a:rPr sz="1500" b="0" dirty="0">
                <a:solidFill>
                  <a:srgbClr val="F8FAFC"/>
                </a:solidFill>
                <a:latin typeface="Aptos"/>
              </a:rPr>
              <a:t> and use those learned patterns to generate new content.
It can generate text, images, audio, video, code, 3D assets,</a:t>
            </a:r>
            <a:br>
              <a:rPr lang="en-US" sz="1500" b="0" dirty="0">
                <a:solidFill>
                  <a:srgbClr val="F8FAFC"/>
                </a:solidFill>
                <a:latin typeface="Aptos"/>
              </a:rPr>
            </a:br>
            <a:r>
              <a:rPr sz="1500" b="0" dirty="0">
                <a:solidFill>
                  <a:srgbClr val="F8FAFC"/>
                </a:solidFill>
                <a:latin typeface="Aptos"/>
              </a:rPr>
              <a:t> and more.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08760"/>
            <a:ext cx="512064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10528" y="1673351"/>
            <a:ext cx="471830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06B6D4"/>
                </a:solidFill>
                <a:latin typeface="Aptos"/>
              </a:rPr>
              <a:t>Core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0528" y="2167128"/>
            <a:ext cx="4873514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dirty="0">
                <a:solidFill>
                  <a:srgbClr val="F8FAFC"/>
                </a:solidFill>
                <a:latin typeface="Aptos"/>
              </a:rPr>
              <a:t>DATA → LEARN DISTRIBUTION / PATTERNS → GENERATE
Instead of only predicting a label, the model can create a </a:t>
            </a:r>
            <a:br>
              <a:rPr lang="en-US" sz="1500" b="0" dirty="0">
                <a:solidFill>
                  <a:srgbClr val="F8FAFC"/>
                </a:solidFill>
                <a:latin typeface="Aptos"/>
              </a:rPr>
            </a:br>
            <a:r>
              <a:rPr sz="1500" b="0" dirty="0">
                <a:solidFill>
                  <a:srgbClr val="F8FAFC"/>
                </a:solidFill>
                <a:latin typeface="Aptos"/>
              </a:rPr>
              <a:t>new example that follows the patterns it learned.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3. Machine Learning vs Generative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257800" cy="822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547" y="1793965"/>
            <a:ext cx="48554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63640" y="1508760"/>
            <a:ext cx="5212080" cy="822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64807" y="1673351"/>
            <a:ext cx="480974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5257800" cy="822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724912"/>
            <a:ext cx="48554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63640" y="2560320"/>
            <a:ext cx="5212080" cy="822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4807" y="2724912"/>
            <a:ext cx="480974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31520" y="3611879"/>
            <a:ext cx="5257800" cy="822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3776472"/>
            <a:ext cx="48554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263640" y="3611879"/>
            <a:ext cx="5212080" cy="822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64807" y="3776472"/>
            <a:ext cx="480974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31520" y="4663440"/>
            <a:ext cx="5257800" cy="822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6547" y="6005212"/>
            <a:ext cx="48554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263640" y="4663440"/>
            <a:ext cx="5212080" cy="822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64807" y="4828031"/>
            <a:ext cx="480974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39A6C70-D89A-4784-72B0-6122AA50ADAF}"/>
              </a:ext>
            </a:extLst>
          </p:cNvPr>
          <p:cNvSpPr txBox="1"/>
          <p:nvPr/>
        </p:nvSpPr>
        <p:spPr>
          <a:xfrm>
            <a:off x="917449" y="4808545"/>
            <a:ext cx="47322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dirty="0">
                <a:solidFill>
                  <a:srgbClr val="F8FAFC"/>
                </a:solidFill>
                <a:latin typeface="Aptos"/>
              </a:rPr>
              <a:t>Learns patterns for a task</a:t>
            </a:r>
          </a:p>
          <a:p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9353946-BA10-69FA-A7C7-003680822AC6}"/>
              </a:ext>
            </a:extLst>
          </p:cNvPr>
          <p:cNvSpPr txBox="1"/>
          <p:nvPr/>
        </p:nvSpPr>
        <p:spPr>
          <a:xfrm>
            <a:off x="1117419" y="3776472"/>
            <a:ext cx="4771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dirty="0">
                <a:solidFill>
                  <a:srgbClr val="F8FAFC"/>
                </a:solidFill>
                <a:latin typeface="Aptos"/>
              </a:rPr>
              <a:t>Example: spam vs not spam</a:t>
            </a:r>
          </a:p>
          <a:p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34E7390-15EE-AA0A-5B27-7F08C725B1D5}"/>
              </a:ext>
            </a:extLst>
          </p:cNvPr>
          <p:cNvSpPr txBox="1"/>
          <p:nvPr/>
        </p:nvSpPr>
        <p:spPr>
          <a:xfrm>
            <a:off x="1117419" y="2724912"/>
            <a:ext cx="4532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dirty="0">
                <a:solidFill>
                  <a:srgbClr val="F8FAFC"/>
                </a:solidFill>
                <a:latin typeface="Aptos"/>
              </a:rPr>
              <a:t>Output may be a label/value</a:t>
            </a:r>
          </a:p>
          <a:p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C608E9-57BD-3375-11EE-1FE9A852DD12}"/>
              </a:ext>
            </a:extLst>
          </p:cNvPr>
          <p:cNvSpPr txBox="1"/>
          <p:nvPr/>
        </p:nvSpPr>
        <p:spPr>
          <a:xfrm>
            <a:off x="932688" y="1667333"/>
            <a:ext cx="48193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dirty="0">
                <a:solidFill>
                  <a:srgbClr val="F8FAFC"/>
                </a:solidFill>
                <a:latin typeface="Aptos"/>
              </a:rPr>
              <a:t>Often predicts or classifies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31B3031-F423-706F-78AE-714C3C315F2E}"/>
              </a:ext>
            </a:extLst>
          </p:cNvPr>
          <p:cNvSpPr txBox="1"/>
          <p:nvPr/>
        </p:nvSpPr>
        <p:spPr>
          <a:xfrm>
            <a:off x="6464807" y="1673351"/>
            <a:ext cx="47945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dirty="0">
                <a:solidFill>
                  <a:srgbClr val="F8FAFC"/>
                </a:solidFill>
                <a:latin typeface="Aptos"/>
              </a:rPr>
              <a:t>Creates new content</a:t>
            </a:r>
          </a:p>
          <a:p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705ACF6-C273-E16C-0383-0DBABF2BD8E6}"/>
              </a:ext>
            </a:extLst>
          </p:cNvPr>
          <p:cNvSpPr txBox="1"/>
          <p:nvPr/>
        </p:nvSpPr>
        <p:spPr>
          <a:xfrm>
            <a:off x="6649538" y="2724912"/>
            <a:ext cx="46097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dirty="0">
                <a:solidFill>
                  <a:srgbClr val="F8FAFC"/>
                </a:solidFill>
                <a:latin typeface="Aptos"/>
              </a:rPr>
              <a:t>Output can be text, image, audio, code…</a:t>
            </a:r>
          </a:p>
          <a:p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2122F2-F71C-5275-91A7-83548A89E2CC}"/>
              </a:ext>
            </a:extLst>
          </p:cNvPr>
          <p:cNvSpPr txBox="1"/>
          <p:nvPr/>
        </p:nvSpPr>
        <p:spPr>
          <a:xfrm>
            <a:off x="6649538" y="3776472"/>
            <a:ext cx="46097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dirty="0">
                <a:solidFill>
                  <a:srgbClr val="F8FAFC"/>
                </a:solidFill>
                <a:latin typeface="Aptos"/>
              </a:rPr>
              <a:t>Example: generate an email</a:t>
            </a:r>
          </a:p>
          <a:p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083C53A-3AC0-4ACC-67AC-1C379B6E49B8}"/>
              </a:ext>
            </a:extLst>
          </p:cNvPr>
          <p:cNvSpPr txBox="1"/>
          <p:nvPr/>
        </p:nvSpPr>
        <p:spPr>
          <a:xfrm>
            <a:off x="6464807" y="4828031"/>
            <a:ext cx="4809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dirty="0">
                <a:solidFill>
                  <a:srgbClr val="F8FAFC"/>
                </a:solidFill>
                <a:latin typeface="Aptos"/>
              </a:rPr>
              <a:t>Learns patterns/distributions for creation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4. Why People Think ML and GenAI Are the Same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Generative AI is built using machine-learning techniques.</a:t>
            </a:r>
          </a:p>
          <a:p>
            <a:pPr>
              <a:spcAft>
                <a:spcPts val="12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Both learn from data and use mathematical models to find patterns.</a:t>
            </a:r>
          </a:p>
          <a:p>
            <a:pPr>
              <a:spcAft>
                <a:spcPts val="12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Many Generative AI models are neural networks.</a:t>
            </a:r>
          </a:p>
          <a:p>
            <a:pPr>
              <a:spcAft>
                <a:spcPts val="12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So: Generative AI is closely related to ML — but “ML” is the broader field.</a:t>
            </a:r>
          </a:p>
          <a:p>
            <a:pPr>
              <a:spcAft>
                <a:spcPts val="12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Think of it as: AI → Machine Learning → Deep Learning → Generative AI (with overlap).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71500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6B6D4"/>
                </a:solidFill>
                <a:latin typeface="Aptos"/>
              </a:rPr>
              <a:t>Key takeaway: GenAI is not separate from ML; it is one powerful area within the modern ML ecosystem.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5. Major Generative Model Families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347472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95528" y="1673351"/>
            <a:ext cx="30723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2563EB"/>
                </a:solidFill>
                <a:latin typeface="Aptos"/>
              </a:rPr>
              <a:t>GANs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2167128"/>
            <a:ext cx="3072384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Two neural networks compete:
Generator → creates samples
Discriminator → judges real vs fake
Goal: produce realistic synthetic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508760"/>
            <a:ext cx="347472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44568" y="1673351"/>
            <a:ext cx="30723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0B981"/>
                </a:solidFill>
                <a:latin typeface="Aptos"/>
              </a:rPr>
              <a:t>VAEs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4568" y="2167128"/>
            <a:ext cx="3180807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dirty="0">
                <a:solidFill>
                  <a:srgbClr val="F8FAFC"/>
                </a:solidFill>
                <a:latin typeface="Aptos"/>
              </a:rPr>
              <a:t>An encoder compresses data into</a:t>
            </a:r>
            <a:br>
              <a:rPr lang="en-US" sz="1500" b="0" dirty="0">
                <a:solidFill>
                  <a:srgbClr val="F8FAFC"/>
                </a:solidFill>
                <a:latin typeface="Aptos"/>
              </a:rPr>
            </a:br>
            <a:r>
              <a:rPr sz="1500" b="0" dirty="0">
                <a:solidFill>
                  <a:srgbClr val="F8FAFC"/>
                </a:solidFill>
                <a:latin typeface="Aptos"/>
              </a:rPr>
              <a:t> a probabilistic latent space.
A decoder reconstructs or generates</a:t>
            </a:r>
            <a:br>
              <a:rPr lang="en-US" sz="1500" b="0" dirty="0">
                <a:solidFill>
                  <a:srgbClr val="F8FAFC"/>
                </a:solidFill>
                <a:latin typeface="Aptos"/>
              </a:rPr>
            </a:br>
            <a:r>
              <a:rPr sz="1500" b="0" dirty="0">
                <a:solidFill>
                  <a:srgbClr val="F8FAFC"/>
                </a:solidFill>
                <a:latin typeface="Aptos"/>
              </a:rPr>
              <a:t> data from that space.
Useful for learning structured</a:t>
            </a:r>
            <a:br>
              <a:rPr lang="en-US" sz="1500" b="0" dirty="0">
                <a:solidFill>
                  <a:srgbClr val="F8FAFC"/>
                </a:solidFill>
                <a:latin typeface="Aptos"/>
              </a:rPr>
            </a:br>
            <a:r>
              <a:rPr sz="1500" b="0" dirty="0">
                <a:solidFill>
                  <a:srgbClr val="F8FAFC"/>
                </a:solidFill>
                <a:latin typeface="Aptos"/>
              </a:rPr>
              <a:t> representations.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508760"/>
            <a:ext cx="347472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93608" y="1673351"/>
            <a:ext cx="30723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8B5CF6"/>
                </a:solidFill>
                <a:latin typeface="Aptos"/>
              </a:rPr>
              <a:t>Autoregressive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3608" y="2167128"/>
            <a:ext cx="3400931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dirty="0">
                <a:solidFill>
                  <a:srgbClr val="F8FAFC"/>
                </a:solidFill>
                <a:latin typeface="Aptos"/>
              </a:rPr>
              <a:t>Generate one element at a time based</a:t>
            </a:r>
            <a:br>
              <a:rPr lang="en-US" sz="1500" b="0" dirty="0">
                <a:solidFill>
                  <a:srgbClr val="F8FAFC"/>
                </a:solidFill>
                <a:latin typeface="Aptos"/>
              </a:rPr>
            </a:br>
            <a:r>
              <a:rPr sz="1500" b="0" dirty="0">
                <a:solidFill>
                  <a:srgbClr val="F8FAFC"/>
                </a:solidFill>
                <a:latin typeface="Aptos"/>
              </a:rPr>
              <a:t> on previous elements.
Example:
“The cat” → “sat” → “on” → “the” → “mat”
Many language models use this</a:t>
            </a:r>
            <a:br>
              <a:rPr lang="en-US" sz="1500" b="0" dirty="0">
                <a:solidFill>
                  <a:srgbClr val="F8FAFC"/>
                </a:solidFill>
                <a:latin typeface="Aptos"/>
              </a:rPr>
            </a:br>
            <a:r>
              <a:rPr sz="1500" b="0" dirty="0">
                <a:solidFill>
                  <a:srgbClr val="F8FAFC"/>
                </a:solidFill>
                <a:latin typeface="Aptos"/>
              </a:rPr>
              <a:t> principle.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6. GANs — Generative Adversarial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2563EB"/>
                </a:solidFill>
                <a:latin typeface="Aptos"/>
              </a:rPr>
              <a:t>Generator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21488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F8FAFC"/>
                </a:solidFill>
                <a:latin typeface="Aptos"/>
              </a:rPr>
              <a:t>→ fake sample 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210312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8B5CF6"/>
                </a:solidFill>
                <a:latin typeface="Aptos"/>
              </a:rPr>
              <a:t>Discriminator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9480" y="21488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F8FAFC"/>
                </a:solidFill>
                <a:latin typeface="Aptos"/>
              </a:rPr>
              <a:t>→ real / fake 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210312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6B6D4"/>
                </a:solidFill>
                <a:latin typeface="Aptos"/>
              </a:rPr>
              <a:t>Training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The Generator tries to create realistic samples.</a:t>
            </a:r>
          </a:p>
          <a:p>
            <a:pPr>
              <a:spcAft>
                <a:spcPts val="12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The Discriminator tries to distinguish real samples from generated ones.</a:t>
            </a:r>
          </a:p>
          <a:p>
            <a:pPr>
              <a:spcAft>
                <a:spcPts val="12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Both improve through competition.</a:t>
            </a:r>
          </a:p>
          <a:p>
            <a:pPr>
              <a:spcAft>
                <a:spcPts val="12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Classic applications: image synthesis, style transfer, data augmentation.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7. VAEs — Variational Autoencoders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01752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" y="1810512"/>
            <a:ext cx="26151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0B981"/>
                </a:solidFill>
                <a:latin typeface="Aptos"/>
              </a:rPr>
              <a:t>1. Encoder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304288"/>
            <a:ext cx="2702984" cy="7848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dirty="0">
                <a:solidFill>
                  <a:srgbClr val="F8FAFC"/>
                </a:solidFill>
                <a:latin typeface="Aptos"/>
              </a:rPr>
              <a:t>Takes an input and maps it to</a:t>
            </a:r>
            <a:br>
              <a:rPr lang="en-US" sz="1500" b="0" dirty="0">
                <a:solidFill>
                  <a:srgbClr val="F8FAFC"/>
                </a:solidFill>
                <a:latin typeface="Aptos"/>
              </a:rPr>
            </a:br>
            <a:r>
              <a:rPr sz="1500" b="0" dirty="0">
                <a:solidFill>
                  <a:srgbClr val="F8FAFC"/>
                </a:solidFill>
                <a:latin typeface="Aptos"/>
              </a:rPr>
              <a:t> a compact probabilistic latent</a:t>
            </a:r>
            <a:br>
              <a:rPr lang="en-US" sz="1500" b="0" dirty="0">
                <a:solidFill>
                  <a:srgbClr val="F8FAFC"/>
                </a:solidFill>
                <a:latin typeface="Aptos"/>
              </a:rPr>
            </a:br>
            <a:r>
              <a:rPr sz="1500" b="0" dirty="0">
                <a:solidFill>
                  <a:srgbClr val="F8FAFC"/>
                </a:solidFill>
                <a:latin typeface="Aptos"/>
              </a:rPr>
              <a:t> representation.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288036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8FAFC"/>
                </a:solidFill>
                <a:latin typeface="Apto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645920"/>
            <a:ext cx="301752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81728" y="1810512"/>
            <a:ext cx="26151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06B6D4"/>
                </a:solidFill>
                <a:latin typeface="Aptos"/>
              </a:rPr>
              <a:t>2. Latent 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304288"/>
            <a:ext cx="2625719" cy="7848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dirty="0">
                <a:solidFill>
                  <a:srgbClr val="F8FAFC"/>
                </a:solidFill>
                <a:latin typeface="Aptos"/>
              </a:rPr>
              <a:t>A structured space where</a:t>
            </a:r>
            <a:br>
              <a:rPr lang="en-US" sz="1500" b="0" dirty="0">
                <a:solidFill>
                  <a:srgbClr val="F8FAFC"/>
                </a:solidFill>
                <a:latin typeface="Aptos"/>
              </a:rPr>
            </a:br>
            <a:r>
              <a:rPr sz="1500" b="0" dirty="0">
                <a:solidFill>
                  <a:srgbClr val="F8FAFC"/>
                </a:solidFill>
                <a:latin typeface="Aptos"/>
              </a:rPr>
              <a:t> similar data points tend to be</a:t>
            </a:r>
            <a:br>
              <a:rPr lang="en-US" sz="1500" b="0" dirty="0">
                <a:solidFill>
                  <a:srgbClr val="F8FAFC"/>
                </a:solidFill>
                <a:latin typeface="Aptos"/>
              </a:rPr>
            </a:br>
            <a:r>
              <a:rPr sz="1500" b="0" dirty="0">
                <a:solidFill>
                  <a:srgbClr val="F8FAFC"/>
                </a:solidFill>
                <a:latin typeface="Aptos"/>
              </a:rPr>
              <a:t> near one another.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288036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8FAFC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645920"/>
            <a:ext cx="301752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30768" y="1810512"/>
            <a:ext cx="26151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8B5CF6"/>
                </a:solidFill>
                <a:latin typeface="Aptos"/>
              </a:rPr>
              <a:t>3. Decoder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768" y="2304288"/>
            <a:ext cx="2592954" cy="7848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dirty="0">
                <a:solidFill>
                  <a:srgbClr val="F8FAFC"/>
                </a:solidFill>
                <a:latin typeface="Aptos"/>
              </a:rPr>
              <a:t>Turns a latent representation </a:t>
            </a:r>
            <a:br>
              <a:rPr lang="en-US" sz="1500" b="0" dirty="0">
                <a:solidFill>
                  <a:srgbClr val="F8FAFC"/>
                </a:solidFill>
                <a:latin typeface="Aptos"/>
              </a:rPr>
            </a:br>
            <a:r>
              <a:rPr sz="1500" b="0" dirty="0">
                <a:solidFill>
                  <a:srgbClr val="F8FAFC"/>
                </a:solidFill>
                <a:latin typeface="Aptos"/>
              </a:rPr>
              <a:t>back into a reconstructed or</a:t>
            </a:r>
            <a:br>
              <a:rPr lang="en-US" sz="1500" b="0" dirty="0">
                <a:solidFill>
                  <a:srgbClr val="F8FAFC"/>
                </a:solidFill>
                <a:latin typeface="Aptos"/>
              </a:rPr>
            </a:br>
            <a:r>
              <a:rPr sz="1500" b="0" dirty="0">
                <a:solidFill>
                  <a:srgbClr val="F8FAFC"/>
                </a:solidFill>
                <a:latin typeface="Aptos"/>
              </a:rPr>
              <a:t> newly generated sample.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8. Autoregressive Generative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>
                <a:solidFill>
                  <a:srgbClr val="F8FAFC"/>
                </a:solidFill>
                <a:latin typeface="Aptos"/>
              </a:rPr>
              <a:t>Generate sequentially — each new token depends on what came before.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423160"/>
            <a:ext cx="1508760" cy="1325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2587752"/>
            <a:ext cx="110642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2563EB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3081528"/>
            <a:ext cx="1106424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The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79" y="2423160"/>
            <a:ext cx="1508760" cy="1325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70048" y="2587752"/>
            <a:ext cx="110642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06B6D4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0048" y="3081528"/>
            <a:ext cx="1106424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423160"/>
            <a:ext cx="1508760" cy="1325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2587752"/>
            <a:ext cx="110642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0B981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3081528"/>
            <a:ext cx="1106424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predicts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423160"/>
            <a:ext cx="1508760" cy="1325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9088" y="2587752"/>
            <a:ext cx="110642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8B5CF6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081528"/>
            <a:ext cx="1106424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the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423160"/>
            <a:ext cx="1508760" cy="1325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8" y="2587752"/>
            <a:ext cx="110642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2563EB"/>
                </a:solidFill>
                <a:latin typeface="Apto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3081528"/>
            <a:ext cx="1106424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next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66960" y="2423160"/>
            <a:ext cx="1508760" cy="1325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168128" y="2587752"/>
            <a:ext cx="110642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06B6D4"/>
                </a:solidFill>
                <a:latin typeface="Aptos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68128" y="3081528"/>
            <a:ext cx="1106424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token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160520"/>
            <a:ext cx="5303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6B6D4"/>
                </a:solidFill>
                <a:latin typeface="Aptos"/>
              </a:rPr>
              <a:t>P(next token | previous tokens)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98348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0">
                <a:solidFill>
                  <a:srgbClr val="94A3B8"/>
                </a:solidFill>
                <a:latin typeface="Aptos"/>
              </a:rPr>
              <a:t>This basic idea is central to many text-generation systems.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9. Fine-Tuning Generative Models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" y="1673351"/>
            <a:ext cx="471830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2563EB"/>
                </a:solidFill>
                <a:latin typeface="Aptos"/>
              </a:rPr>
              <a:t>What is fine-tuning?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167128"/>
            <a:ext cx="4602414" cy="12464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dirty="0">
                <a:solidFill>
                  <a:srgbClr val="F8FAFC"/>
                </a:solidFill>
                <a:latin typeface="Aptos"/>
              </a:rPr>
              <a:t>Fine-tuning adapts an already pre-trained generative </a:t>
            </a:r>
            <a:br>
              <a:rPr lang="en-US" sz="1500" b="0" dirty="0">
                <a:solidFill>
                  <a:srgbClr val="F8FAFC"/>
                </a:solidFill>
                <a:latin typeface="Aptos"/>
              </a:rPr>
            </a:br>
            <a:r>
              <a:rPr sz="1500" b="0" dirty="0">
                <a:solidFill>
                  <a:srgbClr val="F8FAFC"/>
                </a:solidFill>
                <a:latin typeface="Aptos"/>
              </a:rPr>
              <a:t>model to a narrower task, style, domain, or dataset.
Instead of training from scratch, we start with a model</a:t>
            </a:r>
            <a:br>
              <a:rPr lang="en-US" sz="1500" b="0" dirty="0">
                <a:solidFill>
                  <a:srgbClr val="F8FAFC"/>
                </a:solidFill>
                <a:latin typeface="Aptos"/>
              </a:rPr>
            </a:br>
            <a:r>
              <a:rPr sz="1500" b="0" dirty="0">
                <a:solidFill>
                  <a:srgbClr val="F8FAFC"/>
                </a:solidFill>
                <a:latin typeface="Aptos"/>
              </a:rPr>
              <a:t> that has already learned broad patterns.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50876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73368" y="1673351"/>
            <a:ext cx="480974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8B5CF6"/>
                </a:solidFill>
                <a:latin typeface="Aptos"/>
              </a:rPr>
              <a:t>Typical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3368" y="2167128"/>
            <a:ext cx="3793667" cy="26314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dirty="0">
                <a:solidFill>
                  <a:srgbClr val="F8FAFC"/>
                </a:solidFill>
                <a:latin typeface="Aptos"/>
              </a:rPr>
              <a:t>PRE-TRAINED MODEL
↓
Curated task/domain data
↓
Additional training
↓
SPECIALIZED MODEL
Examples: domain-specific text generation, </a:t>
            </a:r>
            <a:br>
              <a:rPr lang="en-US" sz="1500" b="0" dirty="0">
                <a:solidFill>
                  <a:srgbClr val="F8FAFC"/>
                </a:solidFill>
                <a:latin typeface="Aptos"/>
              </a:rPr>
            </a:br>
            <a:r>
              <a:rPr sz="1500" b="0" dirty="0">
                <a:solidFill>
                  <a:srgbClr val="F8FAFC"/>
                </a:solidFill>
                <a:latin typeface="Aptos"/>
              </a:rPr>
              <a:t>structured outputs,</a:t>
            </a:r>
            <a:br>
              <a:rPr lang="en-US" sz="1500" b="0" dirty="0">
                <a:solidFill>
                  <a:srgbClr val="F8FAFC"/>
                </a:solidFill>
                <a:latin typeface="Aptos"/>
              </a:rPr>
            </a:br>
            <a:r>
              <a:rPr sz="1500" b="0" dirty="0">
                <a:solidFill>
                  <a:srgbClr val="F8FAFC"/>
                </a:solidFill>
                <a:latin typeface="Aptos"/>
              </a:rPr>
              <a:t> style adaptation.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10. Fine-Tuning vs Prompting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" y="1719072"/>
            <a:ext cx="471830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06B6D4"/>
                </a:solidFill>
                <a:latin typeface="Aptos"/>
              </a:rPr>
              <a:t>Prompting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212848"/>
            <a:ext cx="4430380" cy="1708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dirty="0">
                <a:solidFill>
                  <a:srgbClr val="F8FAFC"/>
                </a:solidFill>
                <a:latin typeface="Aptos"/>
              </a:rPr>
              <a:t>You change the instructions given to the model.
Fast and flexible.
No model-weight training is required.
Best when the model already knows how to perform</a:t>
            </a:r>
            <a:br>
              <a:rPr lang="en-US" sz="1500" b="0" dirty="0">
                <a:solidFill>
                  <a:srgbClr val="F8FAFC"/>
                </a:solidFill>
                <a:latin typeface="Aptos"/>
              </a:rPr>
            </a:br>
            <a:r>
              <a:rPr sz="1500" b="0" dirty="0">
                <a:solidFill>
                  <a:srgbClr val="F8FAFC"/>
                </a:solidFill>
                <a:latin typeface="Aptos"/>
              </a:rPr>
              <a:t> the task.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12064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19088" y="1719072"/>
            <a:ext cx="471830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8B5CF6"/>
                </a:solidFill>
                <a:latin typeface="Aptos"/>
              </a:rPr>
              <a:t>Fine-Tuning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212848"/>
            <a:ext cx="4718303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You further train the model on examples.
More specialized behavior.
Can improve consistency for a narrow task or style.
Requires a suitable dataset and training process.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11. Where Generative AI Is Used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429000" cy="1691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7" y="1581912"/>
            <a:ext cx="30266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2563EB"/>
                </a:solidFill>
                <a:latin typeface="Aptos"/>
              </a:rPr>
              <a:t>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075688"/>
            <a:ext cx="234583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dirty="0">
                <a:solidFill>
                  <a:srgbClr val="F8FAFC"/>
                </a:solidFill>
                <a:latin typeface="Aptos"/>
              </a:rPr>
              <a:t>Chatbots, summarization,</a:t>
            </a:r>
            <a:br>
              <a:rPr lang="en-US" sz="1500" b="0" dirty="0">
                <a:solidFill>
                  <a:srgbClr val="F8FAFC"/>
                </a:solidFill>
                <a:latin typeface="Aptos"/>
              </a:rPr>
            </a:br>
            <a:r>
              <a:rPr sz="1500" b="0" dirty="0">
                <a:solidFill>
                  <a:srgbClr val="F8FAFC"/>
                </a:solidFill>
                <a:latin typeface="Aptos"/>
              </a:rPr>
              <a:t> writing, translation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17320"/>
            <a:ext cx="3429000" cy="1691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36008" y="1581912"/>
            <a:ext cx="30266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8B5CF6"/>
                </a:solidFill>
                <a:latin typeface="Aptos"/>
              </a:rPr>
              <a:t>Images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6008" y="2075688"/>
            <a:ext cx="302666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Design, concept art, synthetic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417320"/>
            <a:ext cx="3429000" cy="1691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30768" y="1581912"/>
            <a:ext cx="30266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06B6D4"/>
                </a:solidFill>
                <a:latin typeface="Aptos"/>
              </a:rPr>
              <a:t>Audio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0768" y="2075688"/>
            <a:ext cx="302666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Speech, music, sound generation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474720"/>
            <a:ext cx="3429000" cy="1691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7" y="3639312"/>
            <a:ext cx="30266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0B981"/>
                </a:solidFill>
                <a:latin typeface="Aptos"/>
              </a:rPr>
              <a:t>Video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4133087"/>
            <a:ext cx="302666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Animation, editing, synthetic scenes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474720"/>
            <a:ext cx="3429000" cy="1691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36008" y="3639312"/>
            <a:ext cx="30266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2563EB"/>
                </a:solidFill>
                <a:latin typeface="Aptos"/>
              </a:rPr>
              <a:t>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4133087"/>
            <a:ext cx="266720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dirty="0">
                <a:solidFill>
                  <a:srgbClr val="F8FAFC"/>
                </a:solidFill>
                <a:latin typeface="Aptos"/>
              </a:rPr>
              <a:t>Code generation, explanation,</a:t>
            </a:r>
            <a:br>
              <a:rPr lang="en-US" sz="1500" b="0" dirty="0">
                <a:solidFill>
                  <a:srgbClr val="F8FAFC"/>
                </a:solidFill>
                <a:latin typeface="Aptos"/>
              </a:rPr>
            </a:br>
            <a:r>
              <a:rPr sz="1500" b="0" dirty="0">
                <a:solidFill>
                  <a:srgbClr val="F8FAFC"/>
                </a:solidFill>
                <a:latin typeface="Aptos"/>
              </a:rPr>
              <a:t> refactoring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474720"/>
            <a:ext cx="3429000" cy="1691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30768" y="3639312"/>
            <a:ext cx="30266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8B5CF6"/>
                </a:solidFill>
                <a:latin typeface="Aptos"/>
              </a:rPr>
              <a:t>Science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8" y="4133087"/>
            <a:ext cx="276005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dirty="0">
                <a:solidFill>
                  <a:srgbClr val="F8FAFC"/>
                </a:solidFill>
                <a:latin typeface="Aptos"/>
              </a:rPr>
              <a:t>Molecule/protein and scientific</a:t>
            </a:r>
            <a:br>
              <a:rPr lang="en-US" sz="1500" b="0" dirty="0">
                <a:solidFill>
                  <a:srgbClr val="F8FAFC"/>
                </a:solidFill>
                <a:latin typeface="Aptos"/>
              </a:rPr>
            </a:br>
            <a:r>
              <a:rPr sz="1500" b="0" dirty="0">
                <a:solidFill>
                  <a:srgbClr val="F8FAFC"/>
                </a:solidFill>
                <a:latin typeface="Aptos"/>
              </a:rPr>
              <a:t> data generation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12. Putting It All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Machine Learning: learns from data to make predictions or decisions.</a:t>
            </a:r>
          </a:p>
          <a:p>
            <a:pPr>
              <a:spcAft>
                <a:spcPts val="12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Generative AI: learns patterns that allow it to create new content.</a:t>
            </a:r>
          </a:p>
          <a:p>
            <a:pPr>
              <a:spcAft>
                <a:spcPts val="12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GANs: generation through competition between a generator and discriminator.</a:t>
            </a:r>
          </a:p>
          <a:p>
            <a:pPr>
              <a:spcAft>
                <a:spcPts val="12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VAEs: generation through a learned probabilistic latent space.</a:t>
            </a:r>
          </a:p>
          <a:p>
            <a:pPr>
              <a:spcAft>
                <a:spcPts val="12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Autoregressive models: generate sequentially, predicting the next element.</a:t>
            </a:r>
          </a:p>
          <a:p>
            <a:pPr>
              <a:spcAft>
                <a:spcPts val="12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Fine-tuning: specializes a pre-trained model for a particular task or domain.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15000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6B6D4"/>
                </a:solidFill>
                <a:latin typeface="Aptos"/>
              </a:rPr>
              <a:t>The big picture: Learn patterns → represent them → generate something new → specialize when needed.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8FAFC"/>
                </a:solidFill>
                <a:latin typeface="Aptos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862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Aptos"/>
              </a:rPr>
              <a:t>Generative AI • GANs • VAEs • Autoregressive Models • Fine-Tuning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4142</TotalTime>
  <Words>980</Words>
  <Application>Microsoft Office PowerPoint</Application>
  <PresentationFormat>Widescreen</PresentationFormat>
  <Paragraphs>105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abdussalam abdullateef</cp:lastModifiedBy>
  <cp:revision>2</cp:revision>
  <dcterms:created xsi:type="dcterms:W3CDTF">2013-01-27T09:14:16Z</dcterms:created>
  <dcterms:modified xsi:type="dcterms:W3CDTF">2026-08-16T10:39:14Z</dcterms:modified>
  <cp:category/>
</cp:coreProperties>
</file>