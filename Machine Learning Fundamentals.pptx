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2.png"/><Relationship Id="rId6" Type="http://schemas.openxmlformats.org/officeDocument/2006/relationships/image" Target="../media/image-3-4.png"/><Relationship Id="rId7" Type="http://schemas.openxmlformats.org/officeDocument/2006/relationships/image" Target="../media/image-3-3.png"/><Relationship Id="rId8" Type="http://schemas.openxmlformats.org/officeDocument/2006/relationships/image" Target="../media/image-3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822960"/>
            <a:ext cx="2286000" cy="2286000"/>
          </a:xfrm>
          <a:prstGeom prst="ellipse">
            <a:avLst/>
          </a:prstGeom>
          <a:solidFill>
            <a:srgbClr val="2A2447"/>
          </a:solidFill>
          <a:ln/>
        </p:spPr>
      </p:sp>
      <p:pic>
        <p:nvPicPr>
          <p:cNvPr id="3" name="Image 0" descr="/home/claude/ml_deck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4173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2148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how it works, its three core types, and how it differs from Generative AI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484632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2A244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846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Definition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46120" y="484632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2A2447"/>
          </a:solidFill>
          <a:ln/>
        </p:spPr>
      </p:sp>
      <p:sp>
        <p:nvSpPr>
          <p:cNvPr id="10" name="Text 7"/>
          <p:cNvSpPr/>
          <p:nvPr/>
        </p:nvSpPr>
        <p:spPr>
          <a:xfrm>
            <a:off x="3246120" y="4846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How it works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484632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2A2447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4846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Three types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41080" y="484632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2A2447"/>
          </a:solidFill>
          <a:ln/>
        </p:spPr>
      </p:sp>
      <p:sp>
        <p:nvSpPr>
          <p:cNvPr id="14" name="Text 11"/>
          <p:cNvSpPr/>
          <p:nvPr/>
        </p:nvSpPr>
        <p:spPr>
          <a:xfrm>
            <a:off x="8641080" y="4846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ML vs. Generative AI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EEEB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50" b="1" dirty="0">
                <a:solidFill>
                  <a:srgbClr val="4C3A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(ML) </a:t>
            </a:r>
            <a:pPr indent="0" marL="0">
              <a:lnSpc>
                <a:spcPts val="2500"/>
              </a:lnSpc>
              <a:buNone/>
            </a:pPr>
            <a:r>
              <a:rPr lang="en-US" sz="1750" dirty="0">
                <a:solidFill>
                  <a:srgbClr val="22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branch of artificial intelligence in which a computer system learns patterns directly from data and improves its performance on a task through experience — instead of following fixed, hand-written rules for every possible situation.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48640" y="3127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it's a way of building software that learns from examples, rather than being explicitly told what to do.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Defining Characteristics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2567178" cy="2148840"/>
          </a:xfrm>
          <a:prstGeom prst="roundRect">
            <a:avLst>
              <a:gd name="adj" fmla="val 4255"/>
            </a:avLst>
          </a:prstGeom>
          <a:solidFill>
            <a:srgbClr val="F7F6FC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48765" y="4389120"/>
            <a:ext cx="566928" cy="566928"/>
          </a:xfrm>
          <a:prstGeom prst="ellipse">
            <a:avLst/>
          </a:prstGeom>
          <a:solidFill>
            <a:srgbClr val="4C3AA3"/>
          </a:solidFill>
          <a:ln/>
        </p:spPr>
      </p:sp>
      <p:pic>
        <p:nvPicPr>
          <p:cNvPr id="10" name="Image 0" descr="/home/claude/ml_deck/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452628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507492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5513832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 in examples instead of following pre-written instructions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90138" y="4114800"/>
            <a:ext cx="2567178" cy="2148840"/>
          </a:xfrm>
          <a:prstGeom prst="roundRect">
            <a:avLst>
              <a:gd name="adj" fmla="val 4255"/>
            </a:avLst>
          </a:prstGeom>
          <a:solidFill>
            <a:srgbClr val="F7F6FC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90263" y="4389120"/>
            <a:ext cx="566928" cy="566928"/>
          </a:xfrm>
          <a:prstGeom prst="ellipse">
            <a:avLst/>
          </a:prstGeom>
          <a:solidFill>
            <a:srgbClr val="4C3AA3"/>
          </a:solidFill>
          <a:ln/>
        </p:spPr>
      </p:sp>
      <p:pic>
        <p:nvPicPr>
          <p:cNvPr id="15" name="Image 1" descr="/home/claude/ml_deck/impro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423" y="452628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7298" y="507492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With Experience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73018" y="5513832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typically increases as it sees more relevant data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31636" y="4114800"/>
            <a:ext cx="2567178" cy="2148840"/>
          </a:xfrm>
          <a:prstGeom prst="roundRect">
            <a:avLst>
              <a:gd name="adj" fmla="val 4255"/>
            </a:avLst>
          </a:prstGeom>
          <a:solidFill>
            <a:srgbClr val="F7F6FC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31761" y="4389120"/>
            <a:ext cx="566928" cy="566928"/>
          </a:xfrm>
          <a:prstGeom prst="ellipse">
            <a:avLst/>
          </a:prstGeom>
          <a:solidFill>
            <a:srgbClr val="4C3AA3"/>
          </a:solidFill>
          <a:ln/>
        </p:spPr>
      </p:sp>
      <p:pic>
        <p:nvPicPr>
          <p:cNvPr id="20" name="Image 2" descr="/home/claude/ml_deck/predi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921" y="452628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68796" y="507492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&amp; Decides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14516" y="5513832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what it learned to make a prediction, classification, or choice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073134" y="4114800"/>
            <a:ext cx="2567178" cy="2148840"/>
          </a:xfrm>
          <a:prstGeom prst="roundRect">
            <a:avLst>
              <a:gd name="adj" fmla="val 4255"/>
            </a:avLst>
          </a:prstGeom>
          <a:solidFill>
            <a:srgbClr val="F7F6FC"/>
          </a:solidFill>
          <a:ln w="12700">
            <a:solidFill>
              <a:srgbClr val="E4E0F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0073259" y="4389120"/>
            <a:ext cx="566928" cy="566928"/>
          </a:xfrm>
          <a:prstGeom prst="ellipse">
            <a:avLst/>
          </a:prstGeom>
          <a:solidFill>
            <a:srgbClr val="4C3AA3"/>
          </a:solidFill>
          <a:ln/>
        </p:spPr>
      </p:sp>
      <p:pic>
        <p:nvPicPr>
          <p:cNvPr id="25" name="Image 3" descr="/home/claude/ml_deck/generaliz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419" y="452628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10294" y="507492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to New Cases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256014" y="5513832"/>
            <a:ext cx="2201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inputs it has never seen before, not just memorized ones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vs. Traditional Programming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approaches use the exact same ingredients — data, rules, and answers — but in a different order.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48840" y="1965960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2F1F7"/>
          </a:solidFill>
          <a:ln w="12700">
            <a:solidFill>
              <a:srgbClr val="DDD9EC"/>
            </a:solidFill>
            <a:prstDash val="solid"/>
          </a:ln>
        </p:spPr>
      </p:sp>
      <p:pic>
        <p:nvPicPr>
          <p:cNvPr id="7" name="Image 0" descr="/home/claude/ml_deck/r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144" y="216712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15768" y="19659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148840" y="2807208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2F1F7"/>
          </a:solidFill>
          <a:ln w="12700">
            <a:solidFill>
              <a:srgbClr val="DDD9EC"/>
            </a:solidFill>
            <a:prstDash val="solid"/>
          </a:ln>
        </p:spPr>
      </p:sp>
      <p:pic>
        <p:nvPicPr>
          <p:cNvPr id="10" name="Image 1" descr="/home/claude/ml_deck/d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300837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15768" y="280720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07992" y="2258568"/>
            <a:ext cx="502920" cy="256032"/>
          </a:xfrm>
          <a:prstGeom prst="rightArrow">
            <a:avLst/>
          </a:prstGeom>
          <a:solidFill>
            <a:srgbClr val="C9C3E6"/>
          </a:solidFill>
          <a:ln/>
        </p:spPr>
      </p:sp>
      <p:sp>
        <p:nvSpPr>
          <p:cNvPr id="13" name="Shape 9"/>
          <p:cNvSpPr/>
          <p:nvPr/>
        </p:nvSpPr>
        <p:spPr>
          <a:xfrm>
            <a:off x="5120640" y="196596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2A2447"/>
          </a:solidFill>
          <a:ln/>
        </p:spPr>
      </p:sp>
      <p:pic>
        <p:nvPicPr>
          <p:cNvPr id="14" name="Image 2" descr="/home/claude/ml_deck/compu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213055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25694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88352" y="2258568"/>
            <a:ext cx="502920" cy="256032"/>
          </a:xfrm>
          <a:prstGeom prst="rightArrow">
            <a:avLst/>
          </a:prstGeom>
          <a:solidFill>
            <a:srgbClr val="C9C3E6"/>
          </a:solidFill>
          <a:ln/>
        </p:spPr>
      </p:sp>
      <p:sp>
        <p:nvSpPr>
          <p:cNvPr id="17" name="Shape 12"/>
          <p:cNvSpPr/>
          <p:nvPr/>
        </p:nvSpPr>
        <p:spPr>
          <a:xfrm>
            <a:off x="8001000" y="196596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2F1F7"/>
          </a:solidFill>
          <a:ln/>
        </p:spPr>
      </p:sp>
      <p:pic>
        <p:nvPicPr>
          <p:cNvPr id="18" name="Image 3" descr="/home/claude/ml_deck/answ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1488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10728" y="258775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110728" y="293522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output)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44805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2148840" y="3977640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2F1F7"/>
          </a:solidFill>
          <a:ln w="12700">
            <a:solidFill>
              <a:srgbClr val="DDD9EC"/>
            </a:solidFill>
            <a:prstDash val="solid"/>
          </a:ln>
        </p:spPr>
      </p:sp>
      <p:pic>
        <p:nvPicPr>
          <p:cNvPr id="23" name="Image 4" descr="/home/claude/ml_deck/da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144" y="417880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715768" y="397764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2148840" y="4818888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2F1F7"/>
          </a:solidFill>
          <a:ln w="12700">
            <a:solidFill>
              <a:srgbClr val="DDD9EC"/>
            </a:solidFill>
            <a:prstDash val="solid"/>
          </a:ln>
        </p:spPr>
      </p:sp>
      <p:pic>
        <p:nvPicPr>
          <p:cNvPr id="26" name="Image 5" descr="/home/claude/ml_deck/answ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144" y="5020056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715768" y="481888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4507992" y="4270248"/>
            <a:ext cx="502920" cy="256032"/>
          </a:xfrm>
          <a:prstGeom prst="rightArrow">
            <a:avLst/>
          </a:prstGeom>
          <a:solidFill>
            <a:srgbClr val="C9C3E6"/>
          </a:solidFill>
          <a:ln/>
        </p:spPr>
      </p:sp>
      <p:sp>
        <p:nvSpPr>
          <p:cNvPr id="29" name="Shape 21"/>
          <p:cNvSpPr/>
          <p:nvPr/>
        </p:nvSpPr>
        <p:spPr>
          <a:xfrm>
            <a:off x="5120640" y="397764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2A2447"/>
          </a:solidFill>
          <a:ln/>
        </p:spPr>
      </p:sp>
      <p:pic>
        <p:nvPicPr>
          <p:cNvPr id="30" name="Image 6" descr="/home/claude/ml_deck/comput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5896" y="4142232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20640" y="45811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7388352" y="4270248"/>
            <a:ext cx="502920" cy="256032"/>
          </a:xfrm>
          <a:prstGeom prst="rightArrow">
            <a:avLst/>
          </a:prstGeom>
          <a:solidFill>
            <a:srgbClr val="C9C3E6"/>
          </a:solidFill>
          <a:ln/>
        </p:spPr>
      </p:sp>
      <p:sp>
        <p:nvSpPr>
          <p:cNvPr id="33" name="Shape 24"/>
          <p:cNvSpPr/>
          <p:nvPr/>
        </p:nvSpPr>
        <p:spPr>
          <a:xfrm>
            <a:off x="8001000" y="39776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EEEBFA"/>
          </a:solidFill>
          <a:ln w="19050">
            <a:solidFill>
              <a:srgbClr val="4C3AA3"/>
            </a:solidFill>
            <a:prstDash val="solid"/>
          </a:ln>
        </p:spPr>
      </p:sp>
      <p:pic>
        <p:nvPicPr>
          <p:cNvPr id="34" name="Image 7" descr="/home/claude/ml_deck/answ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4160520"/>
            <a:ext cx="365760" cy="3657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110728" y="45994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8110728" y="494690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model)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548640" y="6053328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AFAFC"/>
          </a:solidFill>
          <a:ln w="12700">
            <a:solidFill>
              <a:srgbClr val="ECEAF5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777240" y="60533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traditional programming, people write the rules. </a:t>
            </a:r>
            <a:pPr indent="0" marL="0">
              <a:buNone/>
            </a:pPr>
            <a:r>
              <a:rPr lang="en-US" sz="12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machine learning, the system learns the rules itself from examples of data paired with correct answers.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APPROACHES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Machine Learning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systems are grouped by the kind of data they learn from and the kind of feedback they receive.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53384" cy="4206240"/>
          </a:xfrm>
          <a:prstGeom prst="roundRect">
            <a:avLst>
              <a:gd name="adj" fmla="val 3177"/>
            </a:avLst>
          </a:prstGeom>
          <a:solidFill>
            <a:srgbClr val="EEEBFA"/>
          </a:solidFill>
          <a:ln/>
        </p:spPr>
      </p:sp>
      <p:sp>
        <p:nvSpPr>
          <p:cNvPr id="6" name="Shape 4"/>
          <p:cNvSpPr/>
          <p:nvPr/>
        </p:nvSpPr>
        <p:spPr>
          <a:xfrm>
            <a:off x="1818132" y="2423160"/>
            <a:ext cx="914400" cy="914400"/>
          </a:xfrm>
          <a:prstGeom prst="ellipse">
            <a:avLst/>
          </a:prstGeom>
          <a:solidFill>
            <a:srgbClr val="4C3AA3"/>
          </a:solidFill>
          <a:ln/>
        </p:spPr>
      </p:sp>
      <p:pic>
        <p:nvPicPr>
          <p:cNvPr id="7" name="Image 0" descr="/home/claude/ml_deck/supervi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6732" y="2651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3A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498092" y="39776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498092" y="39776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labeled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2813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 that already has the correct answers attached, then predicts answers for new data.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7784" y="2057400"/>
            <a:ext cx="3453384" cy="4206240"/>
          </a:xfrm>
          <a:prstGeom prst="roundRect">
            <a:avLst>
              <a:gd name="adj" fmla="val 3177"/>
            </a:avLst>
          </a:prstGeom>
          <a:solidFill>
            <a:srgbClr val="E3F3F2"/>
          </a:solidFill>
          <a:ln/>
        </p:spPr>
      </p:sp>
      <p:sp>
        <p:nvSpPr>
          <p:cNvPr id="13" name="Shape 10"/>
          <p:cNvSpPr/>
          <p:nvPr/>
        </p:nvSpPr>
        <p:spPr>
          <a:xfrm>
            <a:off x="5637276" y="242316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1" descr="/home/claude/ml_deck/unsupervis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6517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6384" y="34747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317236" y="39776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5317236" y="39776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unlabeled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687824" y="4480560"/>
            <a:ext cx="2813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data with no correct answers given, uncovering hidden structure or groupings on its own.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86928" y="2057400"/>
            <a:ext cx="3453384" cy="4206240"/>
          </a:xfrm>
          <a:prstGeom prst="roundRect">
            <a:avLst>
              <a:gd name="adj" fmla="val 3177"/>
            </a:avLst>
          </a:prstGeom>
          <a:solidFill>
            <a:srgbClr val="FCF0DE"/>
          </a:solidFill>
          <a:ln/>
        </p:spPr>
      </p:sp>
      <p:sp>
        <p:nvSpPr>
          <p:cNvPr id="20" name="Shape 16"/>
          <p:cNvSpPr/>
          <p:nvPr/>
        </p:nvSpPr>
        <p:spPr>
          <a:xfrm>
            <a:off x="9456420" y="242316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2" descr="/home/claude/ml_deck/reinforce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020" y="265176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5528" y="34747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9136380" y="39776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9136380" y="39776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reward signal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506968" y="4480560"/>
            <a:ext cx="2813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acting in an environment and adjusting its behavior based on rewards and penalties.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9735" y="0"/>
            <a:ext cx="4251960" cy="6858000"/>
          </a:xfrm>
          <a:prstGeom prst="rect">
            <a:avLst/>
          </a:prstGeom>
          <a:solidFill>
            <a:srgbClr val="4C3AA3"/>
          </a:solidFill>
          <a:ln/>
        </p:spPr>
      </p:sp>
      <p:pic>
        <p:nvPicPr>
          <p:cNvPr id="3" name="Image 0" descr="/home/claude/ml_deck/supervi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5655" y="45720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1215" y="1737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Algorithms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351215" y="2084832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&amp; Random Forests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 (SVM)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351215" y="3977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351215" y="4325112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detection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65760"/>
            <a:ext cx="6888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21792"/>
            <a:ext cx="6888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Labeled Examples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1188720"/>
            <a:ext cx="2113178" cy="365760"/>
          </a:xfrm>
          <a:prstGeom prst="roundRect">
            <a:avLst>
              <a:gd name="adj" fmla="val 20000"/>
            </a:avLst>
          </a:prstGeom>
          <a:solidFill>
            <a:srgbClr val="EEEBFA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188720"/>
            <a:ext cx="2113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algn="ctr" indent="0" marL="0">
              <a:buNone/>
            </a:pPr>
            <a:r>
              <a:rPr lang="en-US" sz="105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936138" y="1188720"/>
            <a:ext cx="2113178" cy="365760"/>
          </a:xfrm>
          <a:prstGeom prst="roundRect">
            <a:avLst>
              <a:gd name="adj" fmla="val 20000"/>
            </a:avLst>
          </a:prstGeom>
          <a:solidFill>
            <a:srgbClr val="EEEBFA"/>
          </a:solidFill>
          <a:ln/>
        </p:spPr>
      </p:sp>
      <p:sp>
        <p:nvSpPr>
          <p:cNvPr id="13" name="Text 10"/>
          <p:cNvSpPr/>
          <p:nvPr/>
        </p:nvSpPr>
        <p:spPr>
          <a:xfrm>
            <a:off x="2936138" y="1188720"/>
            <a:ext cx="2113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</a:t>
            </a:r>
            <a:pPr algn="ctr" indent="0" marL="0">
              <a:buNone/>
            </a:pPr>
            <a:r>
              <a:rPr lang="en-US" sz="105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23637" y="1188720"/>
            <a:ext cx="2113178" cy="365760"/>
          </a:xfrm>
          <a:prstGeom prst="roundRect">
            <a:avLst>
              <a:gd name="adj" fmla="val 20000"/>
            </a:avLst>
          </a:prstGeom>
          <a:solidFill>
            <a:srgbClr val="EEEBFA"/>
          </a:solidFill>
          <a:ln/>
        </p:spPr>
      </p:sp>
      <p:sp>
        <p:nvSpPr>
          <p:cNvPr id="15" name="Text 12"/>
          <p:cNvSpPr/>
          <p:nvPr/>
        </p:nvSpPr>
        <p:spPr>
          <a:xfrm>
            <a:off x="5323637" y="1188720"/>
            <a:ext cx="2113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algn="ctr" indent="0" marL="0">
              <a:buNone/>
            </a:pPr>
            <a:r>
              <a:rPr lang="en-US" sz="105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1691640"/>
            <a:ext cx="6888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data where every input is paired with the correct output, so it learns the mapping and can predict outcomes for new, unseen inputs.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2468880"/>
            <a:ext cx="6888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2798064"/>
            <a:ext cx="292608" cy="292608"/>
          </a:xfrm>
          <a:prstGeom prst="ellipse">
            <a:avLst/>
          </a:prstGeom>
          <a:solidFill>
            <a:srgbClr val="4C3AA3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69264" y="2788920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labeled training data (input-output pairs)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282696"/>
            <a:ext cx="292608" cy="292608"/>
          </a:xfrm>
          <a:prstGeom prst="ellipse">
            <a:avLst/>
          </a:prstGeom>
          <a:solidFill>
            <a:srgbClr val="4C3AA3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69264" y="3273552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the pattern mapping inputs to outputs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767328"/>
            <a:ext cx="292608" cy="292608"/>
          </a:xfrm>
          <a:prstGeom prst="ellipse">
            <a:avLst/>
          </a:prstGeom>
          <a:solidFill>
            <a:srgbClr val="4C3AA3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69264" y="3758184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outputs for new, unseen inputs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rgbClr val="4C3AA3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69264" y="4242816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checked against true labels to improve accuracy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4956048"/>
            <a:ext cx="6888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Tasks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5303520"/>
            <a:ext cx="3306928" cy="960120"/>
          </a:xfrm>
          <a:prstGeom prst="roundRect">
            <a:avLst>
              <a:gd name="adj" fmla="val 7619"/>
            </a:avLst>
          </a:prstGeom>
          <a:solidFill>
            <a:srgbClr val="EEEBFA"/>
          </a:solidFill>
          <a:ln/>
        </p:spPr>
      </p:sp>
      <p:sp>
        <p:nvSpPr>
          <p:cNvPr id="32" name="Text 29"/>
          <p:cNvSpPr/>
          <p:nvPr/>
        </p:nvSpPr>
        <p:spPr>
          <a:xfrm>
            <a:off x="713232" y="5413248"/>
            <a:ext cx="297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13232" y="5687568"/>
            <a:ext cx="2977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discrete category, e.g. spam vs. not spam</a:t>
            </a:r>
            <a:endParaRPr lang="en-US" sz="1030" dirty="0"/>
          </a:p>
        </p:txBody>
      </p:sp>
      <p:sp>
        <p:nvSpPr>
          <p:cNvPr id="34" name="Shape 31"/>
          <p:cNvSpPr/>
          <p:nvPr/>
        </p:nvSpPr>
        <p:spPr>
          <a:xfrm>
            <a:off x="4129888" y="5303520"/>
            <a:ext cx="3306928" cy="960120"/>
          </a:xfrm>
          <a:prstGeom prst="roundRect">
            <a:avLst>
              <a:gd name="adj" fmla="val 7619"/>
            </a:avLst>
          </a:prstGeom>
          <a:solidFill>
            <a:srgbClr val="EEEBFA"/>
          </a:solidFill>
          <a:ln/>
        </p:spPr>
      </p:sp>
      <p:sp>
        <p:nvSpPr>
          <p:cNvPr id="35" name="Text 32"/>
          <p:cNvSpPr/>
          <p:nvPr/>
        </p:nvSpPr>
        <p:spPr>
          <a:xfrm>
            <a:off x="4294480" y="5413248"/>
            <a:ext cx="297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4294480" y="5687568"/>
            <a:ext cx="2977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continuous value, e.g. a house price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51960" cy="685800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/home/claude/ml_deck/unsupervi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45720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737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Algorithms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11480" y="2084832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(PCA)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11480" y="3977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1480" y="4325112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fraud detection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compression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754880" y="365760"/>
            <a:ext cx="6888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54880" y="621792"/>
            <a:ext cx="6888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Structure in Unlabeled Data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2113178" cy="365760"/>
          </a:xfrm>
          <a:prstGeom prst="roundRect">
            <a:avLst>
              <a:gd name="adj" fmla="val 20000"/>
            </a:avLst>
          </a:prstGeom>
          <a:solidFill>
            <a:srgbClr val="E3F3F2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188720"/>
            <a:ext cx="2113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algn="ctr" indent="0" marL="0">
              <a:buNone/>
            </a:pPr>
            <a:r>
              <a:rPr lang="en-US" sz="105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42378" y="1188720"/>
            <a:ext cx="2113178" cy="365760"/>
          </a:xfrm>
          <a:prstGeom prst="roundRect">
            <a:avLst>
              <a:gd name="adj" fmla="val 20000"/>
            </a:avLst>
          </a:prstGeom>
          <a:solidFill>
            <a:srgbClr val="E3F3F2"/>
          </a:solidFill>
          <a:ln/>
        </p:spPr>
      </p:sp>
      <p:sp>
        <p:nvSpPr>
          <p:cNvPr id="13" name="Text 10"/>
          <p:cNvSpPr/>
          <p:nvPr/>
        </p:nvSpPr>
        <p:spPr>
          <a:xfrm>
            <a:off x="7142378" y="1188720"/>
            <a:ext cx="2113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</a:t>
            </a:r>
            <a:pPr algn="ctr" indent="0" marL="0">
              <a:buNone/>
            </a:pPr>
            <a:r>
              <a:rPr lang="en-US" sz="105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529877" y="1188720"/>
            <a:ext cx="2113178" cy="365760"/>
          </a:xfrm>
          <a:prstGeom prst="roundRect">
            <a:avLst>
              <a:gd name="adj" fmla="val 20000"/>
            </a:avLst>
          </a:prstGeom>
          <a:solidFill>
            <a:srgbClr val="E3F3F2"/>
          </a:solidFill>
          <a:ln/>
        </p:spPr>
      </p:sp>
      <p:sp>
        <p:nvSpPr>
          <p:cNvPr id="15" name="Text 12"/>
          <p:cNvSpPr/>
          <p:nvPr/>
        </p:nvSpPr>
        <p:spPr>
          <a:xfrm>
            <a:off x="9529877" y="1188720"/>
            <a:ext cx="2113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algn="ctr" indent="0" marL="0">
              <a:buNone/>
            </a:pPr>
            <a:r>
              <a:rPr lang="en-US" sz="105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54880" y="1691640"/>
            <a:ext cx="6888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data that has no labels or correct answers, discovering hidden patterns or structure that people then interpret for insight.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54880" y="2468880"/>
            <a:ext cx="6888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54880" y="2798064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75504" y="2788920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model raw, unlabeled data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3282696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ext 19"/>
          <p:cNvSpPr/>
          <p:nvPr/>
        </p:nvSpPr>
        <p:spPr>
          <a:xfrm>
            <a:off x="4754880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175504" y="3273552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analyzes similarities and structure in the data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3767328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175504" y="3758184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groups, compresses, or reorganizes the data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54880" y="425196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8" name="Text 25"/>
          <p:cNvSpPr/>
          <p:nvPr/>
        </p:nvSpPr>
        <p:spPr>
          <a:xfrm>
            <a:off x="475488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175504" y="4242816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patterns are interpreted by people for insight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54880" y="4956048"/>
            <a:ext cx="6888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Tasks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754880" y="5303520"/>
            <a:ext cx="3306928" cy="960120"/>
          </a:xfrm>
          <a:prstGeom prst="roundRect">
            <a:avLst>
              <a:gd name="adj" fmla="val 7619"/>
            </a:avLst>
          </a:prstGeom>
          <a:solidFill>
            <a:srgbClr val="E3F3F2"/>
          </a:solidFill>
          <a:ln/>
        </p:spPr>
      </p:sp>
      <p:sp>
        <p:nvSpPr>
          <p:cNvPr id="32" name="Text 29"/>
          <p:cNvSpPr/>
          <p:nvPr/>
        </p:nvSpPr>
        <p:spPr>
          <a:xfrm>
            <a:off x="4919472" y="5413248"/>
            <a:ext cx="297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4919472" y="5687568"/>
            <a:ext cx="2977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similar data points together, e.g. customer segments</a:t>
            </a:r>
            <a:endParaRPr lang="en-US" sz="1030" dirty="0"/>
          </a:p>
        </p:txBody>
      </p:sp>
      <p:sp>
        <p:nvSpPr>
          <p:cNvPr id="34" name="Shape 31"/>
          <p:cNvSpPr/>
          <p:nvPr/>
        </p:nvSpPr>
        <p:spPr>
          <a:xfrm>
            <a:off x="8336128" y="5303520"/>
            <a:ext cx="3306928" cy="960120"/>
          </a:xfrm>
          <a:prstGeom prst="roundRect">
            <a:avLst>
              <a:gd name="adj" fmla="val 7619"/>
            </a:avLst>
          </a:prstGeom>
          <a:solidFill>
            <a:srgbClr val="E3F3F2"/>
          </a:solidFill>
          <a:ln/>
        </p:spPr>
      </p:sp>
      <p:sp>
        <p:nvSpPr>
          <p:cNvPr id="35" name="Text 32"/>
          <p:cNvSpPr/>
          <p:nvPr/>
        </p:nvSpPr>
        <p:spPr>
          <a:xfrm>
            <a:off x="8500720" y="5413248"/>
            <a:ext cx="297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500720" y="5687568"/>
            <a:ext cx="2977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data while keeping key structure</a:t>
            </a:r>
            <a:endParaRPr lang="en-US" sz="10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9735" y="0"/>
            <a:ext cx="4251960" cy="68580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" name="Image 0" descr="/home/claude/ml_deck/reinforc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5655" y="45720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1215" y="1737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Algorithms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351215" y="2084832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Q-Networks (DQN)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 methods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Policy Optimization (PPO)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351215" y="3977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351215" y="4325112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Game-playing AI (AlphaGo, chess)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control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resource management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recommendation tuning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65760"/>
            <a:ext cx="6888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21792"/>
            <a:ext cx="6888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Through Reward and Feedback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1188720"/>
            <a:ext cx="2113178" cy="365760"/>
          </a:xfrm>
          <a:prstGeom prst="roundRect">
            <a:avLst>
              <a:gd name="adj" fmla="val 20000"/>
            </a:avLst>
          </a:prstGeom>
          <a:solidFill>
            <a:srgbClr val="FCF0DE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188720"/>
            <a:ext cx="2113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algn="ctr" indent="0" marL="0">
              <a:buNone/>
            </a:pPr>
            <a:r>
              <a:rPr lang="en-US" sz="105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signal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936138" y="1188720"/>
            <a:ext cx="2113178" cy="365760"/>
          </a:xfrm>
          <a:prstGeom prst="roundRect">
            <a:avLst>
              <a:gd name="adj" fmla="val 20000"/>
            </a:avLst>
          </a:prstGeom>
          <a:solidFill>
            <a:srgbClr val="FCF0DE"/>
          </a:solidFill>
          <a:ln/>
        </p:spPr>
      </p:sp>
      <p:sp>
        <p:nvSpPr>
          <p:cNvPr id="13" name="Text 10"/>
          <p:cNvSpPr/>
          <p:nvPr/>
        </p:nvSpPr>
        <p:spPr>
          <a:xfrm>
            <a:off x="2936138" y="1188720"/>
            <a:ext cx="2113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</a:t>
            </a:r>
            <a:pPr algn="ctr" indent="0" marL="0">
              <a:buNone/>
            </a:pPr>
            <a:r>
              <a:rPr lang="en-US" sz="105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23637" y="1188720"/>
            <a:ext cx="2113178" cy="365760"/>
          </a:xfrm>
          <a:prstGeom prst="roundRect">
            <a:avLst>
              <a:gd name="adj" fmla="val 20000"/>
            </a:avLst>
          </a:prstGeom>
          <a:solidFill>
            <a:srgbClr val="FCF0DE"/>
          </a:solidFill>
          <a:ln/>
        </p:spPr>
      </p:sp>
      <p:sp>
        <p:nvSpPr>
          <p:cNvPr id="15" name="Text 12"/>
          <p:cNvSpPr/>
          <p:nvPr/>
        </p:nvSpPr>
        <p:spPr>
          <a:xfrm>
            <a:off x="5323637" y="1188720"/>
            <a:ext cx="2113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algn="ctr" indent="0" marL="0">
              <a:buNone/>
            </a:pPr>
            <a:r>
              <a:rPr lang="en-US" sz="105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reward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1691640"/>
            <a:ext cx="6888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interacts with an environment, receiving rewards or penalties for its actions, and learns a policy that maximizes cumulative reward over time.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2468880"/>
            <a:ext cx="6888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(Agent-Environment Loop)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2798064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69264" y="2788920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observes the current state of the environment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282696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69264" y="3273552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takes an action based on its current policy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767328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69264" y="3758184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returns a reward and a new state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251960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69264" y="4242816"/>
            <a:ext cx="64675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updates its policy to earn more reward next time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4956048"/>
            <a:ext cx="6888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5303520"/>
            <a:ext cx="3306928" cy="960120"/>
          </a:xfrm>
          <a:prstGeom prst="roundRect">
            <a:avLst>
              <a:gd name="adj" fmla="val 7619"/>
            </a:avLst>
          </a:prstGeom>
          <a:solidFill>
            <a:srgbClr val="FCF0DE"/>
          </a:solidFill>
          <a:ln/>
        </p:spPr>
      </p:sp>
      <p:sp>
        <p:nvSpPr>
          <p:cNvPr id="32" name="Text 29"/>
          <p:cNvSpPr/>
          <p:nvPr/>
        </p:nvSpPr>
        <p:spPr>
          <a:xfrm>
            <a:off x="713232" y="5413248"/>
            <a:ext cx="297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Environment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13232" y="5687568"/>
            <a:ext cx="2977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decision-maker and the world it acts within</a:t>
            </a:r>
            <a:endParaRPr lang="en-US" sz="1030" dirty="0"/>
          </a:p>
        </p:txBody>
      </p:sp>
      <p:sp>
        <p:nvSpPr>
          <p:cNvPr id="34" name="Shape 31"/>
          <p:cNvSpPr/>
          <p:nvPr/>
        </p:nvSpPr>
        <p:spPr>
          <a:xfrm>
            <a:off x="4129888" y="5303520"/>
            <a:ext cx="3306928" cy="960120"/>
          </a:xfrm>
          <a:prstGeom prst="roundRect">
            <a:avLst>
              <a:gd name="adj" fmla="val 7619"/>
            </a:avLst>
          </a:prstGeom>
          <a:solidFill>
            <a:srgbClr val="FCF0DE"/>
          </a:solidFill>
          <a:ln/>
        </p:spPr>
      </p:sp>
      <p:sp>
        <p:nvSpPr>
          <p:cNvPr id="35" name="Text 32"/>
          <p:cNvSpPr/>
          <p:nvPr/>
        </p:nvSpPr>
        <p:spPr>
          <a:xfrm>
            <a:off x="4294480" y="5413248"/>
            <a:ext cx="297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State &amp; Reward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4294480" y="5687568"/>
            <a:ext cx="2977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does, where it is, and the feedback it gets</a:t>
            </a:r>
            <a:endParaRPr lang="en-US" sz="10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A2447"/>
          </a:solidFill>
          <a:ln/>
        </p:spPr>
      </p:sp>
      <p:pic>
        <p:nvPicPr>
          <p:cNvPr id="3" name="Image 0" descr="/home/claude/ml_deck/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1264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71600" y="7589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Types Compare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5074920"/>
        </p:xfrm>
        <a:graphic>
          <a:graphicData uri="http://schemas.openxmlformats.org/drawingml/2006/table">
            <a:tbl>
              <a:tblPr/>
              <a:tblGrid>
                <a:gridCol w="2286000"/>
                <a:gridCol w="2935224"/>
                <a:gridCol w="2935224"/>
                <a:gridCol w="293522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9B4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Labeled (input + correct output)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fixed dataset — generated by interaction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9B4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a known outcome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 hidden patterns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Maximize cumulative reward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9B4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— correct answer given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reward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9B4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labeled examples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 discovered patterns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the reward 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9B4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algorithms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Regression, SVM, Neural Nets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PCA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Q-Learning, PPO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9B4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Game-playing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E1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0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2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vs. Generative AI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 use these terms as if they mean the same thing. They don't — Generative AI is one specific application built using machine learning, not a synonym for the whole field.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114800" cy="4114800"/>
          </a:xfrm>
          <a:prstGeom prst="ellipse">
            <a:avLst/>
          </a:prstGeom>
          <a:solidFill>
            <a:srgbClr val="F2F1F7"/>
          </a:solidFill>
          <a:ln w="15875">
            <a:solidFill>
              <a:srgbClr val="D8D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7300" y="2720340"/>
            <a:ext cx="2880360" cy="2880360"/>
          </a:xfrm>
          <a:prstGeom prst="ellipse">
            <a:avLst/>
          </a:prstGeom>
          <a:solidFill>
            <a:srgbClr val="E1DBF5"/>
          </a:solidFill>
          <a:ln w="15875">
            <a:solidFill>
              <a:srgbClr val="C4BB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97380" y="3360420"/>
            <a:ext cx="1600200" cy="1600200"/>
          </a:xfrm>
          <a:prstGeom prst="ellipse">
            <a:avLst/>
          </a:prstGeom>
          <a:solidFill>
            <a:srgbClr val="B23A5B"/>
          </a:solidFill>
          <a:ln/>
        </p:spPr>
      </p:sp>
      <p:pic>
        <p:nvPicPr>
          <p:cNvPr id="8" name="Image 0" descr="/home/claude/ml_deck/gen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8024" y="361645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97380" y="40736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2677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57300" y="28849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a subset of Machine Learning, which is itself a subset of AI.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349240" y="1874520"/>
            <a:ext cx="6309360" cy="1874520"/>
          </a:xfrm>
          <a:prstGeom prst="roundRect">
            <a:avLst>
              <a:gd name="adj" fmla="val 4878"/>
            </a:avLst>
          </a:prstGeom>
          <a:solidFill>
            <a:srgbClr val="EEEBFA"/>
          </a:solidFill>
          <a:ln/>
        </p:spPr>
      </p:sp>
      <p:sp>
        <p:nvSpPr>
          <p:cNvPr id="14" name="Shape 11"/>
          <p:cNvSpPr/>
          <p:nvPr/>
        </p:nvSpPr>
        <p:spPr>
          <a:xfrm>
            <a:off x="5550408" y="2057400"/>
            <a:ext cx="457200" cy="457200"/>
          </a:xfrm>
          <a:prstGeom prst="ellipse">
            <a:avLst/>
          </a:prstGeom>
          <a:solidFill>
            <a:srgbClr val="4C3AA3"/>
          </a:solidFill>
          <a:ln/>
        </p:spPr>
      </p:sp>
      <p:pic>
        <p:nvPicPr>
          <p:cNvPr id="15" name="Image 1" descr="/home/claude/ml_deck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136" y="216712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26480" y="20208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A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(the broad field)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05272" y="2551176"/>
            <a:ext cx="5797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umbrella field of AI where models learn patterns from data to make predictions, classifications, or decisions.</a:t>
            </a:r>
            <a:endParaRPr lang="en-US" sz="1030" dirty="0"/>
          </a:p>
        </p:txBody>
      </p:sp>
      <p:sp>
        <p:nvSpPr>
          <p:cNvPr id="18" name="Text 14"/>
          <p:cNvSpPr/>
          <p:nvPr/>
        </p:nvSpPr>
        <p:spPr>
          <a:xfrm>
            <a:off x="5605272" y="3044952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0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Analyze, predict, or classify existing data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605272" y="32644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0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number, label, category, or action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605272" y="3483864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3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pPr indent="0" marL="0">
              <a:buNone/>
            </a:pPr>
            <a:r>
              <a:rPr lang="en-US" sz="10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recommendations, spam filters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349240" y="3886200"/>
            <a:ext cx="6309360" cy="1874520"/>
          </a:xfrm>
          <a:prstGeom prst="roundRect">
            <a:avLst>
              <a:gd name="adj" fmla="val 4878"/>
            </a:avLst>
          </a:prstGeom>
          <a:solidFill>
            <a:srgbClr val="F8E6EC"/>
          </a:solidFill>
          <a:ln/>
        </p:spPr>
      </p:sp>
      <p:sp>
        <p:nvSpPr>
          <p:cNvPr id="22" name="Shape 18"/>
          <p:cNvSpPr/>
          <p:nvPr/>
        </p:nvSpPr>
        <p:spPr>
          <a:xfrm>
            <a:off x="5550408" y="4069080"/>
            <a:ext cx="457200" cy="457200"/>
          </a:xfrm>
          <a:prstGeom prst="ellipse">
            <a:avLst/>
          </a:prstGeom>
          <a:solidFill>
            <a:srgbClr val="B23A5B"/>
          </a:solidFill>
          <a:ln/>
        </p:spPr>
      </p:sp>
      <p:pic>
        <p:nvPicPr>
          <p:cNvPr id="23" name="Image 2" descr="/home/claude/ml_deck/gen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417880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26480" y="403250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(one application of ML)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605272" y="4562856"/>
            <a:ext cx="5797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3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machine learning — mostly deep learning — focused on creating new content that resembles its training data.</a:t>
            </a:r>
            <a:endParaRPr lang="en-US" sz="1030" dirty="0"/>
          </a:p>
        </p:txBody>
      </p:sp>
      <p:sp>
        <p:nvSpPr>
          <p:cNvPr id="26" name="Text 21"/>
          <p:cNvSpPr/>
          <p:nvPr/>
        </p:nvSpPr>
        <p:spPr>
          <a:xfrm>
            <a:off x="5605272" y="5056632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0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new, original content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605272" y="527608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0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audio, video, or code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605272" y="5495544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pPr indent="0" marL="0">
              <a:buNone/>
            </a:pPr>
            <a:r>
              <a:rPr lang="en-US" sz="1000" dirty="0">
                <a:solidFill>
                  <a:srgbClr val="22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DALL·E, Midjourney, code assistants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349240" y="5897880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2A2447"/>
          </a:solidFill>
          <a:ln/>
        </p:spPr>
      </p:sp>
      <p:sp>
        <p:nvSpPr>
          <p:cNvPr id="30" name="Text 25"/>
          <p:cNvSpPr/>
          <p:nvPr/>
        </p:nvSpPr>
        <p:spPr>
          <a:xfrm>
            <a:off x="5577840" y="58978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Generative AI is Machine Learning, but not all Machine Learning is generative.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548640"/>
            <a:ext cx="2011680" cy="2011680"/>
          </a:xfrm>
          <a:prstGeom prst="ellipse">
            <a:avLst/>
          </a:prstGeom>
          <a:solidFill>
            <a:srgbClr val="2A2447"/>
          </a:solidFill>
          <a:ln/>
        </p:spPr>
      </p:sp>
      <p:pic>
        <p:nvPicPr>
          <p:cNvPr id="3" name="Image 0" descr="/home/claude/ml_deck/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9326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256032" cy="256032"/>
          </a:xfrm>
          <a:prstGeom prst="ellipse">
            <a:avLst/>
          </a:prstGeom>
          <a:solidFill>
            <a:srgbClr val="4C3AA3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19659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lets systems learn patterns from data, instead of following fixed, hand-written rules.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0175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three core types differ by data and feedback: supervised (labeled), unsupervised (unlabeled), reinforcement (reward-based).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0690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type depends on whether you have correct answers, want to find hidden structure, or need to learn from ongoing feedback.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5166360"/>
            <a:ext cx="256032" cy="256032"/>
          </a:xfrm>
          <a:prstGeom prst="ellipse">
            <a:avLst/>
          </a:prstGeom>
          <a:solidFill>
            <a:srgbClr val="B23A5B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51206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not a synonym for machine learning — it's a specific ML application focused on creating new content.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2026-07-29T20:53:32Z</dcterms:created>
  <dcterms:modified xsi:type="dcterms:W3CDTF">2026-07-29T20:53:32Z</dcterms:modified>
</cp:coreProperties>
</file>